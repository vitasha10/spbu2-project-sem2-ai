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5" r:id="rId1"/>
  </p:sldMasterIdLst>
  <p:notesMasterIdLst>
    <p:notesMasterId r:id="rId2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Виталий Сухоплечев" initials="ВС" lastIdx="2" clrIdx="0">
    <p:extLst>
      <p:ext uri="{19B8F6BF-5375-455C-9EA6-DF929625EA0E}">
        <p15:presenceInfo xmlns:p15="http://schemas.microsoft.com/office/powerpoint/2012/main" userId="fa4240758f5af61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F9C272-23C8-4F0B-86DC-73366BEFA321}">
  <a:tblStyle styleId="{7CF9C272-23C8-4F0B-86DC-73366BEFA3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77" autoAdjust="0"/>
    <p:restoredTop sz="94667"/>
  </p:normalViewPr>
  <p:slideViewPr>
    <p:cSldViewPr snapToGrid="0">
      <p:cViewPr>
        <p:scale>
          <a:sx n="124" d="100"/>
          <a:sy n="124" d="100"/>
        </p:scale>
        <p:origin x="1216" y="8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076"/>
              </a:buClr>
              <a:buSzPts val="4400"/>
              <a:buFont typeface="Calibri"/>
              <a:buNone/>
              <a:defRPr>
                <a:solidFill>
                  <a:srgbClr val="5E70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403648" y="2859782"/>
            <a:ext cx="6400800" cy="13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5E7076"/>
              </a:buClr>
              <a:buSzPts val="3200"/>
              <a:buNone/>
              <a:defRPr>
                <a:solidFill>
                  <a:srgbClr val="5E7076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380057" y="4587974"/>
            <a:ext cx="10719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spbu.ru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Рабочий слайд с фотографией">
  <p:cSld name="1_Рабочий слайд с фотографией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23528" y="267494"/>
            <a:ext cx="36108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2800"/>
              <a:buFont typeface="Calibri"/>
              <a:buNone/>
              <a:defRPr sz="2800">
                <a:solidFill>
                  <a:srgbClr val="95373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395536" y="4659982"/>
            <a:ext cx="15123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7956376" y="4587974"/>
            <a:ext cx="10719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spbu.ru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бочий слайд с фотографией">
  <p:cSld name="Рабочий слайд с фотографией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23528" y="267494"/>
            <a:ext cx="36108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2800"/>
              <a:buFont typeface="Calibri"/>
              <a:buNone/>
              <a:defRPr sz="2800">
                <a:solidFill>
                  <a:srgbClr val="95373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395536" y="4659982"/>
            <a:ext cx="15123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8" name="Google Shape;28;p5"/>
          <p:cNvSpPr txBox="1"/>
          <p:nvPr/>
        </p:nvSpPr>
        <p:spPr>
          <a:xfrm>
            <a:off x="7956376" y="4587974"/>
            <a:ext cx="10719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spbu.ru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23528" y="1059582"/>
            <a:ext cx="4038600" cy="33123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2"/>
          </p:nvPr>
        </p:nvSpPr>
        <p:spPr>
          <a:xfrm>
            <a:off x="4572000" y="1059582"/>
            <a:ext cx="4320600" cy="3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E7076"/>
              </a:buClr>
              <a:buSzPts val="1800"/>
              <a:buNone/>
              <a:defRPr sz="1800">
                <a:solidFill>
                  <a:srgbClr val="5E7076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большой фотографией">
  <p:cSld name="Слайд с большой фотографией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0" y="1059582"/>
            <a:ext cx="9144000" cy="4083900"/>
          </a:xfrm>
          <a:prstGeom prst="rect">
            <a:avLst/>
          </a:prstGeom>
          <a:solidFill>
            <a:srgbClr val="BFBFBF"/>
          </a:solidFill>
          <a:ln w="9525" cap="flat" cmpd="sng">
            <a:solidFill>
              <a:srgbClr val="000000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323528" y="267494"/>
            <a:ext cx="36108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2800"/>
              <a:buFont typeface="Calibri"/>
              <a:buNone/>
              <a:defRPr sz="2800">
                <a:solidFill>
                  <a:srgbClr val="95373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/>
          <p:nvPr/>
        </p:nvSpPr>
        <p:spPr>
          <a:xfrm>
            <a:off x="323528" y="4299942"/>
            <a:ext cx="8820600" cy="504000"/>
          </a:xfrm>
          <a:prstGeom prst="rect">
            <a:avLst/>
          </a:pr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6"/>
          <p:cNvSpPr txBox="1">
            <a:spLocks noGrp="1"/>
          </p:cNvSpPr>
          <p:nvPr>
            <p:ph type="subTitle" idx="2"/>
          </p:nvPr>
        </p:nvSpPr>
        <p:spPr>
          <a:xfrm>
            <a:off x="323528" y="4316113"/>
            <a:ext cx="86409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E7076"/>
              </a:buClr>
              <a:buSzPts val="1800"/>
              <a:buNone/>
              <a:defRPr sz="1800">
                <a:solidFill>
                  <a:srgbClr val="5E7076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8556784" y="4820126"/>
            <a:ext cx="548700" cy="393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</a:defRPr>
            </a:lvl1pPr>
            <a:lvl2pPr lvl="1">
              <a:buNone/>
              <a:defRPr sz="1300">
                <a:solidFill>
                  <a:schemeClr val="lt1"/>
                </a:solidFill>
              </a:defRPr>
            </a:lvl2pPr>
            <a:lvl3pPr lvl="2">
              <a:buNone/>
              <a:defRPr sz="1300">
                <a:solidFill>
                  <a:schemeClr val="lt1"/>
                </a:solidFill>
              </a:defRPr>
            </a:lvl3pPr>
            <a:lvl4pPr lvl="3">
              <a:buNone/>
              <a:defRPr sz="1300">
                <a:solidFill>
                  <a:schemeClr val="lt1"/>
                </a:solidFill>
              </a:defRPr>
            </a:lvl4pPr>
            <a:lvl5pPr lvl="4">
              <a:buNone/>
              <a:defRPr sz="1300">
                <a:solidFill>
                  <a:schemeClr val="lt1"/>
                </a:solidFill>
              </a:defRPr>
            </a:lvl5pPr>
            <a:lvl6pPr lvl="5">
              <a:buNone/>
              <a:defRPr sz="1300">
                <a:solidFill>
                  <a:schemeClr val="lt1"/>
                </a:solidFill>
              </a:defRPr>
            </a:lvl6pPr>
            <a:lvl7pPr lvl="6">
              <a:buNone/>
              <a:defRPr sz="1300">
                <a:solidFill>
                  <a:schemeClr val="lt1"/>
                </a:solidFill>
              </a:defRPr>
            </a:lvl7pPr>
            <a:lvl8pPr lvl="7">
              <a:buNone/>
              <a:defRPr sz="1300">
                <a:solidFill>
                  <a:schemeClr val="lt1"/>
                </a:solidFill>
              </a:defRPr>
            </a:lvl8pPr>
            <a:lvl9pPr lvl="8">
              <a:buNone/>
              <a:defRPr sz="1300"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крывающий слайд">
  <p:cSld name="Закрывающий слайд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/>
        </p:nvSpPr>
        <p:spPr>
          <a:xfrm>
            <a:off x="380057" y="4587974"/>
            <a:ext cx="10719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spbu.ru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323528" y="1131590"/>
            <a:ext cx="85689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E7076"/>
              </a:buClr>
              <a:buSzPts val="1800"/>
              <a:buNone/>
              <a:defRPr sz="1800">
                <a:solidFill>
                  <a:srgbClr val="5E7076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323528" y="267494"/>
            <a:ext cx="36108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2800"/>
              <a:buFont typeface="Calibri"/>
              <a:buNone/>
              <a:defRPr sz="2800">
                <a:solidFill>
                  <a:srgbClr val="95373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63434" y="4571176"/>
            <a:ext cx="548700" cy="393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subTitle" idx="1"/>
          </p:nvPr>
        </p:nvSpPr>
        <p:spPr>
          <a:xfrm>
            <a:off x="1371600" y="4681835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None/>
              <a:defRPr>
                <a:solidFill>
                  <a:srgbClr val="888CC5"/>
                </a:solidFill>
              </a:defRPr>
            </a:lvl2pPr>
            <a:lvl3pPr lvl="2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CC5"/>
              </a:buClr>
              <a:buSzPts val="1600"/>
              <a:buNone/>
              <a:defRPr>
                <a:solidFill>
                  <a:srgbClr val="888CC5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CC5"/>
              </a:buClr>
              <a:buSzPts val="1600"/>
              <a:buNone/>
              <a:defRPr>
                <a:solidFill>
                  <a:srgbClr val="888CC5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CC5"/>
              </a:buClr>
              <a:buSzPts val="1600"/>
              <a:buNone/>
              <a:defRPr>
                <a:solidFill>
                  <a:srgbClr val="888CC5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None/>
              <a:defRPr>
                <a:solidFill>
                  <a:srgbClr val="888CC5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None/>
              <a:defRPr>
                <a:solidFill>
                  <a:srgbClr val="888CC5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None/>
              <a:defRPr>
                <a:solidFill>
                  <a:srgbClr val="888CC5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None/>
              <a:defRPr>
                <a:solidFill>
                  <a:srgbClr val="888CC5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/>
          <p:nvPr/>
        </p:nvSpPr>
        <p:spPr>
          <a:xfrm>
            <a:off x="5098416" y="490274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8"/>
          <p:cNvSpPr txBox="1"/>
          <p:nvPr/>
        </p:nvSpPr>
        <p:spPr>
          <a:xfrm>
            <a:off x="5910801" y="427239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1371600" y="2926326"/>
            <a:ext cx="6400800" cy="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1371600" y="3637205"/>
            <a:ext cx="6400800" cy="4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8666300" y="4639175"/>
            <a:ext cx="389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8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 b="1"/>
              <a:t>Прогнозирование отмены
бронирования отеля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/>
              <a:t>Сухоплечев Виталий, Столярова Полина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23528" y="220000"/>
            <a:ext cx="8500000" cy="5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53734"/>
                </a:solidFill>
              </a:rPr>
              <a:t>Задача и зачем это нужно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528" y="770000"/>
            <a:ext cx="8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Предсказать, отменит ли клиент бронь до заезда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528" y="1200000"/>
            <a:ext cx="8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/>
              <a:t>• Что предсказываем: 0 — клиент доехал, 1 — отменил бронь</a:t>
            </a:r>
          </a:p>
          <a:p>
            <a:pPr/>
            <a:r>
              <a:rPr sz="1400"/>
              <a:t/>
            </a:r>
          </a:p>
          <a:p>
            <a:pPr/>
            <a:r>
              <a:rPr sz="1400"/>
              <a:t>• Зачем это отелю.</a:t>
            </a:r>
          </a:p>
          <a:p>
            <a:pPr/>
            <a:r>
              <a:rPr sz="1400"/>
              <a:t>   Отмены — это потерянные деньги. Если знать риск заранее,</a:t>
            </a:r>
          </a:p>
          <a:p>
            <a:pPr/>
            <a:r>
              <a:rPr sz="1400"/>
              <a:t>   можно попросить депозит, держать запас по перебронированию</a:t>
            </a:r>
          </a:p>
          <a:p>
            <a:pPr/>
            <a:r>
              <a:rPr sz="1400"/>
              <a:t>   или прозвонить клиента и подтвердить визит.</a:t>
            </a:r>
          </a:p>
          <a:p>
            <a:pPr/>
            <a:r>
              <a:rPr sz="1400"/>
              <a:t/>
            </a:r>
          </a:p>
          <a:p>
            <a:pPr/>
            <a:r>
              <a:rPr sz="1400"/>
              <a:t>• Чем меряем качество модели.</a:t>
            </a:r>
          </a:p>
          <a:p>
            <a:pPr/>
            <a:r>
              <a:rPr sz="1400"/>
              <a:t>   ROC-AUC (площадь под ROC-кривой) — основная метрика,</a:t>
            </a:r>
          </a:p>
          <a:p>
            <a:pPr/>
            <a:r>
              <a:rPr sz="1400"/>
              <a:t>   не зависит от выбранного порога принятия решения.</a:t>
            </a:r>
          </a:p>
          <a:p>
            <a:pPr/>
            <a:r>
              <a:rPr sz="1400"/>
              <a:t/>
            </a:r>
          </a:p>
          <a:p>
            <a:pPr/>
            <a:r>
              <a:rPr sz="1400"/>
              <a:t>   Полнота по классу «отмена» — дополнительная метрика.</a:t>
            </a:r>
          </a:p>
          <a:p>
            <a:pPr/>
            <a:r>
              <a:rPr sz="1400"/>
              <a:t>   Пропустить отмену хуже, чем ложно её предсказать.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23528" y="220000"/>
            <a:ext cx="8500000" cy="5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53734"/>
                </a:solidFill>
              </a:rPr>
              <a:t>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528" y="1059582"/>
            <a:ext cx="42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/>
              <a:t>• Открытый набор Hotel Booking</a:t>
            </a:r>
          </a:p>
          <a:p>
            <a:pPr/>
            <a:r>
              <a:rPr sz="1400"/>
              <a:t>   Demand (Antonio и соавт., 2019)</a:t>
            </a:r>
          </a:p>
          <a:p>
            <a:pPr/>
            <a:r>
              <a:rPr sz="1400"/>
              <a:t/>
            </a:r>
          </a:p>
          <a:p>
            <a:pPr/>
            <a:r>
              <a:rPr sz="1400"/>
              <a:t>• 119 390 броней</a:t>
            </a:r>
          </a:p>
          <a:p>
            <a:pPr/>
            <a:r>
              <a:rPr sz="1400"/>
              <a:t>• 32 признака на бронь</a:t>
            </a:r>
          </a:p>
          <a:p>
            <a:pPr/>
            <a:r>
              <a:rPr sz="1400"/>
              <a:t/>
            </a:r>
          </a:p>
          <a:p>
            <a:pPr/>
            <a:r>
              <a:rPr sz="1400"/>
              <a:t>• Два отеля в Португалии:</a:t>
            </a:r>
          </a:p>
          <a:p>
            <a:pPr/>
            <a:r>
              <a:rPr sz="1400"/>
              <a:t>   городской и курортный</a:t>
            </a:r>
          </a:p>
          <a:p>
            <a:pPr/>
            <a:r>
              <a:rPr sz="1400"/>
              <a:t/>
            </a:r>
          </a:p>
          <a:p>
            <a:pPr/>
            <a:r>
              <a:rPr sz="1400"/>
              <a:t>• Период: 2015 – 2017 годы</a:t>
            </a:r>
          </a:p>
          <a:p>
            <a:pPr/>
            <a:r>
              <a:rPr sz="1400"/>
              <a:t/>
            </a:r>
          </a:p>
          <a:p>
            <a:pPr/>
            <a:r>
              <a:rPr sz="1400"/>
              <a:t>• Доля отмен в данных — 37 %</a:t>
            </a:r>
          </a:p>
        </p:txBody>
      </p:sp>
      <p:pic>
        <p:nvPicPr>
          <p:cNvPr id="5" name="Picture 4" descr="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00" y="1059582"/>
            <a:ext cx="4200000" cy="28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23528" y="220000"/>
            <a:ext cx="8500000" cy="5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53734"/>
                </a:solidFill>
              </a:rPr>
              <a:t>Что почистили в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528" y="770000"/>
            <a:ext cx="8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Без чистки модель ловит шум и утечку целевой переменной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528" y="1200000"/>
            <a:ext cx="8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/>
              <a:t>• Пропуски в колонках:</a:t>
            </a:r>
          </a:p>
          <a:p>
            <a:pPr/>
            <a:r>
              <a:rPr sz="1300"/>
              <a:t>   страна клиента — 488 пустых → заменили на «неизвестно»;</a:t>
            </a:r>
          </a:p>
          <a:p>
            <a:pPr/>
            <a:r>
              <a:rPr sz="1300"/>
              <a:t>   агентство — 16 340 пустых → заменили на «нет агентства»;</a:t>
            </a:r>
          </a:p>
          <a:p>
            <a:pPr/>
            <a:r>
              <a:rPr sz="1300"/>
              <a:t>   компания — 112 593 пустых (94 % колонки!) →</a:t>
            </a:r>
          </a:p>
          <a:p>
            <a:pPr/>
            <a:r>
              <a:rPr sz="1300"/>
              <a:t>      превратили в бинарный признак «бронь от компании».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• Цена за ночь:</a:t>
            </a:r>
          </a:p>
          <a:p>
            <a:pPr/>
            <a:r>
              <a:rPr sz="1300"/>
              <a:t>   встречались значения от −6 € до 5 400 €</a:t>
            </a:r>
          </a:p>
          <a:p>
            <a:pPr/>
            <a:r>
              <a:rPr sz="1300"/>
              <a:t>   (нормальный диапазон — около 100 €);</a:t>
            </a:r>
          </a:p>
          <a:p>
            <a:pPr/>
            <a:r>
              <a:rPr sz="1300"/>
              <a:t>   убрали отрицательные и аномально высокие.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• Дубли: около 32 тысяч одинаковых строк — удалили.</a:t>
            </a:r>
          </a:p>
          <a:p>
            <a:pPr/>
            <a:r>
              <a:rPr sz="1300"/>
              <a:t>• Брони с нулевым числом гостей — удалили.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• Утечка целевой переменной:</a:t>
            </a:r>
          </a:p>
          <a:p>
            <a:pPr/>
            <a:r>
              <a:rPr sz="1300"/>
              <a:t>   колонки «статус брони» и «дата статуса» —</a:t>
            </a:r>
          </a:p>
          <a:p>
            <a:pPr/>
            <a:r>
              <a:rPr sz="1300"/>
              <a:t>   это прямой ответ, удалили их до обучения.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23528" y="220000"/>
            <a:ext cx="8500000" cy="5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53734"/>
                </a:solidFill>
              </a:rPr>
              <a:t>Срок до заезда — сильнейший одиночный сигнал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528" y="1059582"/>
            <a:ext cx="42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Если смотреть на один признак</a:t>
            </a:r>
          </a:p>
          <a:p>
            <a:pPr/>
            <a:r>
              <a:rPr sz="1200"/>
              <a:t>отдельно — это самый сильный.</a:t>
            </a:r>
          </a:p>
          <a:p>
            <a:pPr/>
            <a:r>
              <a:rPr sz="1200"/>
              <a:t/>
            </a:r>
          </a:p>
          <a:p>
            <a:pPr/>
            <a:r>
              <a:rPr sz="1200"/>
              <a:t>• Брони за неделю до заезда</a:t>
            </a:r>
          </a:p>
          <a:p>
            <a:pPr/>
            <a:r>
              <a:rPr sz="1200"/>
              <a:t>   отменяют примерно</a:t>
            </a:r>
          </a:p>
          <a:p>
            <a:pPr/>
            <a:r>
              <a:rPr sz="1200"/>
              <a:t>   в 10 % случаев</a:t>
            </a:r>
          </a:p>
          <a:p>
            <a:pPr/>
            <a:r>
              <a:rPr sz="1200"/>
              <a:t/>
            </a:r>
          </a:p>
          <a:p>
            <a:pPr/>
            <a:r>
              <a:rPr sz="1200"/>
              <a:t>• Брони за 4–6 месяцев —</a:t>
            </a:r>
          </a:p>
          <a:p>
            <a:pPr/>
            <a:r>
              <a:rPr sz="1200"/>
              <a:t>   почти в половине случаев</a:t>
            </a:r>
          </a:p>
          <a:p>
            <a:pPr/>
            <a:r>
              <a:rPr sz="1200"/>
              <a:t/>
            </a:r>
          </a:p>
          <a:p>
            <a:pPr/>
            <a:r>
              <a:rPr sz="1200"/>
              <a:t>• В модели вместе с другими</a:t>
            </a:r>
          </a:p>
          <a:p>
            <a:pPr/>
            <a:r>
              <a:rPr sz="1200"/>
              <a:t>   признаками порядок меняется</a:t>
            </a:r>
          </a:p>
          <a:p>
            <a:pPr/>
            <a:r>
              <a:rPr sz="1200"/>
              <a:t>   (см. слайд про важность).</a:t>
            </a:r>
          </a:p>
        </p:txBody>
      </p:sp>
      <p:pic>
        <p:nvPicPr>
          <p:cNvPr id="5" name="Picture 4" descr="lead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00" y="1059582"/>
            <a:ext cx="4200000" cy="28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23528" y="220000"/>
            <a:ext cx="8500000" cy="5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53734"/>
                </a:solidFill>
              </a:rPr>
              <a:t>Депозит и страна клиента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528" y="1059582"/>
            <a:ext cx="42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• Невозвратный депозит —</a:t>
            </a:r>
          </a:p>
          <a:p>
            <a:pPr/>
            <a:r>
              <a:rPr sz="1200"/>
              <a:t>   почти всегда заканчивается</a:t>
            </a:r>
          </a:p>
          <a:p>
            <a:pPr/>
            <a:r>
              <a:rPr sz="1200"/>
              <a:t>   отменой. Особенность датасета,</a:t>
            </a:r>
          </a:p>
          <a:p>
            <a:pPr/>
            <a:r>
              <a:rPr sz="1200"/>
              <a:t>   об этом пишут и авторы статьи.</a:t>
            </a:r>
          </a:p>
          <a:p>
            <a:pPr/>
            <a:r>
              <a:rPr sz="1200"/>
              <a:t/>
            </a:r>
          </a:p>
          <a:p>
            <a:pPr/>
            <a:r>
              <a:rPr sz="1200"/>
              <a:t>• Клиенты из Португалии</a:t>
            </a:r>
          </a:p>
          <a:p>
            <a:pPr/>
            <a:r>
              <a:rPr sz="1200"/>
              <a:t>   отменяют чаще остальных.</a:t>
            </a:r>
          </a:p>
          <a:p>
            <a:pPr/>
            <a:r>
              <a:rPr sz="1200"/>
              <a:t/>
            </a:r>
          </a:p>
          <a:p>
            <a:pPr/>
            <a:r>
              <a:rPr sz="1200"/>
              <a:t>• Логично: отели находятся</a:t>
            </a:r>
          </a:p>
          <a:p>
            <a:pPr/>
            <a:r>
              <a:rPr sz="1200"/>
              <a:t>   в Португалии, местные</a:t>
            </a:r>
          </a:p>
          <a:p>
            <a:pPr/>
            <a:r>
              <a:rPr sz="1200"/>
              <a:t>   бронируют «на всякий случай».</a:t>
            </a:r>
          </a:p>
        </p:txBody>
      </p:sp>
      <p:pic>
        <p:nvPicPr>
          <p:cNvPr id="5" name="Picture 4" descr="depos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00" y="900000"/>
            <a:ext cx="4200000" cy="1900000"/>
          </a:xfrm>
          <a:prstGeom prst="rect">
            <a:avLst/>
          </a:prstGeom>
        </p:spPr>
      </p:pic>
      <p:pic>
        <p:nvPicPr>
          <p:cNvPr id="6" name="Picture 5" descr="coun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00" y="2900000"/>
            <a:ext cx="4200000" cy="19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23528" y="220000"/>
            <a:ext cx="8500000" cy="5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53734"/>
                </a:solidFill>
              </a:rPr>
              <a:t>Сезонность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528" y="1059582"/>
            <a:ext cx="42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/>
              <a:t>• Летом доля отмен заметно выше,</a:t>
            </a:r>
          </a:p>
          <a:p>
            <a:pPr/>
            <a:r>
              <a:rPr sz="1300"/>
              <a:t>   зимой ниже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• Январь – апрель — самые</a:t>
            </a:r>
          </a:p>
          <a:p>
            <a:pPr/>
            <a:r>
              <a:rPr sz="1300"/>
              <a:t>   спокойные месяцы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• Из даты заезда сделали три</a:t>
            </a:r>
          </a:p>
          <a:p>
            <a:pPr/>
            <a:r>
              <a:rPr sz="1300"/>
              <a:t>   полезных признака:</a:t>
            </a:r>
          </a:p>
          <a:p>
            <a:pPr/>
            <a:r>
              <a:rPr sz="1300"/>
              <a:t>   – номер месяца</a:t>
            </a:r>
          </a:p>
          <a:p>
            <a:pPr/>
            <a:r>
              <a:rPr sz="1300"/>
              <a:t>   – время года</a:t>
            </a:r>
          </a:p>
          <a:p>
            <a:pPr/>
            <a:r>
              <a:rPr sz="1300"/>
              <a:t>   – день недели заезда</a:t>
            </a:r>
          </a:p>
        </p:txBody>
      </p:sp>
      <p:pic>
        <p:nvPicPr>
          <p:cNvPr id="5" name="Picture 4" descr="sea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00" y="1059582"/>
            <a:ext cx="4200000" cy="28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23528" y="220000"/>
            <a:ext cx="8500000" cy="5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53734"/>
                </a:solidFill>
              </a:rPr>
              <a:t>Подготовка данных и новые признаки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528" y="770000"/>
            <a:ext cx="8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Код вынесен в модули src/data.py и src/features.py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528" y="1200000"/>
            <a:ext cx="8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• Новые признаки, которые мы посчитали:</a:t>
            </a:r>
          </a:p>
          <a:p>
            <a:pPr/>
            <a:r>
              <a:rPr sz="1200"/>
              <a:t>   общее число ночей и общее число гостей,</a:t>
            </a:r>
          </a:p>
          <a:p>
            <a:pPr/>
            <a:r>
              <a:rPr sz="1200"/>
              <a:t>   признак «есть ли дети» и «семейная бронь»,</a:t>
            </a:r>
          </a:p>
          <a:p>
            <a:pPr/>
            <a:r>
              <a:rPr sz="1200"/>
              <a:t>   «сменили номер при заезде» (снижает риск отмены),</a:t>
            </a:r>
          </a:p>
          <a:p>
            <a:pPr/>
            <a:r>
              <a:rPr sz="1200"/>
              <a:t>   месяц, время года, день недели заезда,</a:t>
            </a:r>
          </a:p>
          <a:p>
            <a:pPr/>
            <a:r>
              <a:rPr sz="1200"/>
              <a:t>   цена на одного гостя.</a:t>
            </a:r>
          </a:p>
          <a:p>
            <a:pPr/>
            <a:r>
              <a:rPr sz="1200"/>
              <a:t/>
            </a:r>
          </a:p>
          <a:p>
            <a:pPr/>
            <a:r>
              <a:rPr sz="1200"/>
              <a:t>• Категориальные признаки переводим в числа:</a:t>
            </a:r>
          </a:p>
          <a:p>
            <a:pPr/>
            <a:r>
              <a:rPr sz="1200"/>
              <a:t>   признаки с малым числом значений (тип отеля, питание, канал) —</a:t>
            </a:r>
          </a:p>
          <a:p>
            <a:pPr/>
            <a:r>
              <a:rPr sz="1200"/>
              <a:t>      двоичное кодирование (one-hot) для линейных моделей,</a:t>
            </a:r>
          </a:p>
          <a:p>
            <a:pPr/>
            <a:r>
              <a:rPr sz="1200"/>
              <a:t>      порядковое кодирование для деревьев и бустинга;</a:t>
            </a:r>
          </a:p>
          <a:p>
            <a:pPr/>
            <a:r>
              <a:rPr sz="1200"/>
              <a:t>   страна (около 175 значений) — целевое кодирование:</a:t>
            </a:r>
          </a:p>
          <a:p>
            <a:pPr/>
            <a:r>
              <a:rPr sz="1200"/>
              <a:t>      значение признака = средняя доля отмен по стране,</a:t>
            </a:r>
          </a:p>
          <a:p>
            <a:pPr/>
            <a:r>
              <a:rPr sz="1200"/>
              <a:t>      считается отдельно для каждого фолда (без утечки).</a:t>
            </a:r>
          </a:p>
          <a:p>
            <a:pPr/>
            <a:r>
              <a:rPr sz="1200"/>
              <a:t/>
            </a:r>
          </a:p>
          <a:p>
            <a:pPr/>
            <a:r>
              <a:rPr sz="1200"/>
              <a:t>• Разбиение: 80 % обучение / 20 % тест, со стратификацией по цели.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23528" y="220000"/>
            <a:ext cx="8500000" cy="5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53734"/>
                </a:solidFill>
              </a:rPr>
              <a:t>Сравнение моделей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528" y="1059582"/>
            <a:ext cx="42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Метрика: ROC-AUC по</a:t>
            </a:r>
          </a:p>
          <a:p>
            <a:pPr/>
            <a:r>
              <a:rPr sz="1200"/>
              <a:t>5-фолдовой стратифицированной</a:t>
            </a:r>
          </a:p>
          <a:p>
            <a:pPr/>
            <a:r>
              <a:rPr sz="1200"/>
              <a:t>кросс-валидации.</a:t>
            </a:r>
          </a:p>
          <a:p>
            <a:pPr/>
            <a:r>
              <a:rPr sz="1200"/>
              <a:t/>
            </a:r>
          </a:p>
          <a:p>
            <a:pPr/>
            <a:r>
              <a:rPr sz="1200"/>
              <a:t>• Случайный ответ — 0.50</a:t>
            </a:r>
          </a:p>
          <a:p>
            <a:pPr/>
            <a:r>
              <a:rPr sz="1200"/>
              <a:t>• Логистическая регрессия — 0.84</a:t>
            </a:r>
          </a:p>
          <a:p>
            <a:pPr/>
            <a:r>
              <a:rPr sz="1200"/>
              <a:t>• k ближайших соседей — 0.85</a:t>
            </a:r>
          </a:p>
          <a:p>
            <a:pPr/>
            <a:r>
              <a:rPr sz="1200"/>
              <a:t>• Решающее дерево — 0.88</a:t>
            </a:r>
          </a:p>
          <a:p>
            <a:pPr/>
            <a:r>
              <a:rPr sz="1200"/>
              <a:t>• Случайный лес — 0.91</a:t>
            </a:r>
          </a:p>
          <a:p>
            <a:pPr/>
            <a:r>
              <a:rPr sz="1200"/>
              <a:t>• Градиентный бустинг — 0.92</a:t>
            </a:r>
          </a:p>
          <a:p>
            <a:pPr/>
            <a:r>
              <a:rPr sz="1200"/>
              <a:t/>
            </a:r>
          </a:p>
          <a:p>
            <a:pPr/>
            <a:r>
              <a:rPr sz="1200"/>
              <a:t>Разброс по фолдам ≈ 0.002 —</a:t>
            </a:r>
          </a:p>
          <a:p>
            <a:pPr/>
            <a:r>
              <a:rPr sz="1200"/>
              <a:t>результаты устойчивые.</a:t>
            </a:r>
          </a:p>
        </p:txBody>
      </p:sp>
      <p:pic>
        <p:nvPicPr>
          <p:cNvPr id="5" name="Picture 4" descr="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00" y="1059582"/>
            <a:ext cx="4200000" cy="28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23528" y="220000"/>
            <a:ext cx="8500000" cy="5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53734"/>
                </a:solidFill>
              </a:rPr>
              <a:t>Финальная модель — градиентный бустинг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528" y="1059582"/>
            <a:ext cx="42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/>
              <a:t>Качество на тесте:</a:t>
            </a:r>
          </a:p>
          <a:p>
            <a:pPr/>
            <a:r>
              <a:rPr sz="1100"/>
              <a:t>   ROC-AUC = 0.917</a:t>
            </a:r>
          </a:p>
          <a:p>
            <a:pPr/>
            <a:r>
              <a:rPr sz="1100"/>
              <a:t>   F1-мера = 0.77, полнота 0.67</a:t>
            </a:r>
          </a:p>
          <a:p>
            <a:pPr/>
            <a:r>
              <a:rPr sz="1100"/>
              <a:t/>
            </a:r>
          </a:p>
          <a:p>
            <a:pPr/>
            <a:r>
              <a:rPr sz="1100"/>
              <a:t>Справа — значимость признаков</a:t>
            </a:r>
          </a:p>
          <a:p>
            <a:pPr/>
            <a:r>
              <a:rPr sz="1100"/>
              <a:t>по permutation importance.</a:t>
            </a:r>
          </a:p>
          <a:p>
            <a:pPr/>
            <a:r>
              <a:rPr sz="1100"/>
              <a:t/>
            </a:r>
          </a:p>
          <a:p>
            <a:pPr/>
            <a:r>
              <a:rPr sz="1100"/>
              <a:t>Страна вырывается вперёд:</a:t>
            </a:r>
          </a:p>
          <a:p>
            <a:pPr/>
            <a:r>
              <a:rPr sz="1100"/>
              <a:t>через целевое кодирование она</a:t>
            </a:r>
          </a:p>
          <a:p>
            <a:pPr/>
            <a:r>
              <a:rPr sz="1100"/>
              <a:t>несёт уникальную информацию.</a:t>
            </a:r>
          </a:p>
          <a:p>
            <a:pPr/>
            <a:r>
              <a:rPr sz="1100"/>
              <a:t/>
            </a:r>
          </a:p>
          <a:p>
            <a:pPr/>
            <a:r>
              <a:rPr sz="1100"/>
              <a:t>Срок до заезда коррелирует</a:t>
            </a:r>
          </a:p>
          <a:p>
            <a:pPr/>
            <a:r>
              <a:rPr sz="1100"/>
              <a:t>с каналом и сегментом — часть</a:t>
            </a:r>
          </a:p>
          <a:p>
            <a:pPr/>
            <a:r>
              <a:rPr sz="1100"/>
              <a:t>его сигнала модель</a:t>
            </a:r>
          </a:p>
          <a:p>
            <a:pPr/>
            <a:r>
              <a:rPr sz="1100"/>
              <a:t>восстанавливает через них.</a:t>
            </a:r>
          </a:p>
        </p:txBody>
      </p:sp>
      <p:pic>
        <p:nvPicPr>
          <p:cNvPr id="5" name="Picture 4" descr="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00" y="1059582"/>
            <a:ext cx="4200000" cy="28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23528" y="220000"/>
            <a:ext cx="8500000" cy="5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53734"/>
                </a:solidFill>
              </a:rPr>
              <a:t>Насколько можно верить вероятностям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528" y="1059582"/>
            <a:ext cx="42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50"/>
              <a:t>Идея калибровки: если модель</a:t>
            </a:r>
          </a:p>
          <a:p>
            <a:pPr/>
            <a:r>
              <a:rPr sz="1050"/>
              <a:t>говорит «70 % шанс», то реально</a:t>
            </a:r>
          </a:p>
          <a:p>
            <a:pPr/>
            <a:r>
              <a:rPr sz="1050"/>
              <a:t>из таких броней должно</a:t>
            </a:r>
          </a:p>
          <a:p>
            <a:pPr/>
            <a:r>
              <a:rPr sz="1050"/>
              <a:t>отмениться 70 %.</a:t>
            </a:r>
          </a:p>
          <a:p>
            <a:pPr/>
            <a:r>
              <a:rPr sz="1050"/>
              <a:t/>
            </a:r>
          </a:p>
          <a:p>
            <a:pPr/>
            <a:r>
              <a:rPr sz="1050"/>
              <a:t>На графике справа — насколько</a:t>
            </a:r>
          </a:p>
          <a:p>
            <a:pPr/>
            <a:r>
              <a:rPr sz="1050"/>
              <a:t>модель промахивается.</a:t>
            </a:r>
          </a:p>
          <a:p>
            <a:pPr/>
            <a:r>
              <a:rPr sz="1050"/>
              <a:t>Ноль — идеальная калибровка.</a:t>
            </a:r>
          </a:p>
          <a:p>
            <a:pPr/>
            <a:r>
              <a:rPr sz="1050"/>
              <a:t/>
            </a:r>
          </a:p>
          <a:p>
            <a:pPr/>
            <a:r>
              <a:rPr sz="1050"/>
              <a:t>• Логистическая регрессия:</a:t>
            </a:r>
          </a:p>
          <a:p>
            <a:pPr/>
            <a:r>
              <a:rPr sz="1050"/>
              <a:t>   почти на нуле, промах &lt; 2 %.</a:t>
            </a:r>
          </a:p>
          <a:p>
            <a:pPr/>
            <a:r>
              <a:rPr sz="1050"/>
              <a:t/>
            </a:r>
          </a:p>
          <a:p>
            <a:pPr/>
            <a:r>
              <a:rPr sz="1050"/>
              <a:t>• Случайный лес: уходит ниже</a:t>
            </a:r>
          </a:p>
          <a:p>
            <a:pPr/>
            <a:r>
              <a:rPr sz="1050"/>
              <a:t>   нуля в средней зоне —</a:t>
            </a:r>
          </a:p>
          <a:p>
            <a:pPr/>
            <a:r>
              <a:rPr sz="1050"/>
              <a:t>   задирает уверенность до 8 %.</a:t>
            </a:r>
          </a:p>
          <a:p>
            <a:pPr/>
            <a:r>
              <a:rPr sz="1050"/>
              <a:t/>
            </a:r>
          </a:p>
          <a:p>
            <a:pPr/>
            <a:r>
              <a:rPr sz="1050"/>
              <a:t>• Градиентный бустинг —</a:t>
            </a:r>
          </a:p>
          <a:p>
            <a:pPr/>
            <a:r>
              <a:rPr sz="1050"/>
              <a:t>   похожая картина, до 7 %.</a:t>
            </a:r>
          </a:p>
          <a:p>
            <a:pPr/>
            <a:r>
              <a:rPr sz="1050"/>
              <a:t/>
            </a:r>
          </a:p>
          <a:p>
            <a:pPr/>
            <a:r>
              <a:rPr sz="1050"/>
              <a:t>Снизу видно, что большинство</a:t>
            </a:r>
          </a:p>
          <a:p>
            <a:pPr/>
            <a:r>
              <a:rPr sz="1050"/>
              <a:t>броней получают вероятность</a:t>
            </a:r>
          </a:p>
          <a:p>
            <a:pPr/>
            <a:r>
              <a:rPr sz="1050"/>
              <a:t>меньше 0.3 (лог. шкала).</a:t>
            </a:r>
          </a:p>
        </p:txBody>
      </p:sp>
      <p:pic>
        <p:nvPicPr>
          <p:cNvPr id="5" name="Picture 4" descr="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00" y="900000"/>
            <a:ext cx="4200000" cy="38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23528" y="220000"/>
            <a:ext cx="8500000" cy="5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53734"/>
                </a:solidFill>
              </a:rPr>
              <a:t>Демонстрация приложения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528" y="770000"/>
            <a:ext cx="8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Запуск: run_app.bat — откроется в браузере на localhost:8501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528" y="1200000"/>
            <a:ext cx="8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/>
              <a:t>Сверху страницы — три готовых сценария:</a:t>
            </a:r>
          </a:p>
          <a:p>
            <a:pPr/>
            <a:r>
              <a:rPr sz="1200"/>
              <a:t/>
            </a:r>
          </a:p>
          <a:p>
            <a:pPr/>
            <a:r>
              <a:rPr sz="1200"/>
              <a:t>1. ВЫСОКИЙ РИСК.</a:t>
            </a:r>
          </a:p>
          <a:p>
            <a:pPr/>
            <a:r>
              <a:rPr sz="1200"/>
              <a:t>   Городской отель, срок 200 дней, невозвратный депозит,</a:t>
            </a:r>
          </a:p>
          <a:p>
            <a:pPr/>
            <a:r>
              <a:rPr sz="1200"/>
              <a:t>   клиент из Португалии, канал — онлайн-агентство.</a:t>
            </a:r>
          </a:p>
          <a:p>
            <a:pPr/>
            <a:r>
              <a:rPr sz="1200"/>
              <a:t>   Модель: примерно 99.8 % вероятность отмены.</a:t>
            </a:r>
          </a:p>
          <a:p>
            <a:pPr/>
            <a:r>
              <a:rPr sz="1200"/>
              <a:t/>
            </a:r>
          </a:p>
          <a:p>
            <a:pPr/>
            <a:r>
              <a:rPr sz="1200"/>
              <a:t>2. НИЗКИЙ РИСК.</a:t>
            </a:r>
          </a:p>
          <a:p>
            <a:pPr/>
            <a:r>
              <a:rPr sz="1200"/>
              <a:t>   Курортный отель, срок 14 дней, прямое бронирование,</a:t>
            </a:r>
          </a:p>
          <a:p>
            <a:pPr/>
            <a:r>
              <a:rPr sz="1200"/>
              <a:t>   3 спецзапроса, парковка, семья с ребёнком, клиент из Великобритании.</a:t>
            </a:r>
          </a:p>
          <a:p>
            <a:pPr/>
            <a:r>
              <a:rPr sz="1200"/>
              <a:t>   Модель: примерно 0 % — клиент почти точно доедет.</a:t>
            </a:r>
          </a:p>
          <a:p>
            <a:pPr/>
            <a:r>
              <a:rPr sz="1200"/>
              <a:t/>
            </a:r>
          </a:p>
          <a:p>
            <a:pPr/>
            <a:r>
              <a:rPr sz="1200"/>
              <a:t>3. СРЕДНИЙ РИСК.</a:t>
            </a:r>
          </a:p>
          <a:p>
            <a:pPr/>
            <a:r>
              <a:rPr sz="1200"/>
              <a:t>   Групповая бронь, срок 90 дней, без спецзапросов.</a:t>
            </a:r>
          </a:p>
          <a:p>
            <a:pPr/>
            <a:r>
              <a:rPr sz="1200"/>
              <a:t>   Модель: около 57 % — граница риска не острая.</a:t>
            </a:r>
          </a:p>
          <a:p>
            <a:pPr/>
            <a:r>
              <a:rPr sz="1200"/>
              <a:t/>
            </a:r>
          </a:p>
          <a:p>
            <a:pPr/>
            <a:r>
              <a:rPr sz="1200"/>
              <a:t>Дальше — ручная демонстрация: меняем только срок до заезда</a:t>
            </a:r>
          </a:p>
          <a:p>
            <a:pPr/>
            <a:r>
              <a:rPr sz="1200"/>
              <a:t>(7 → 60 → 200 дней), вероятность отмены растёт почти монотонно.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23528" y="220000"/>
            <a:ext cx="8500000" cy="5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53734"/>
                </a:solidFill>
              </a:rPr>
              <a:t>Ограничения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528" y="1059582"/>
            <a:ext cx="8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/>
              <a:t>1. Перенос на другие отели.</a:t>
            </a:r>
          </a:p>
          <a:p>
            <a:pPr/>
            <a:r>
              <a:rPr sz="1300"/>
              <a:t>   Обучались на двух отелях в Португалии.</a:t>
            </a:r>
          </a:p>
          <a:p>
            <a:pPr/>
            <a:r>
              <a:rPr sz="1300"/>
              <a:t>   На сетевой отель в Германии или Азии может не перенестись —</a:t>
            </a:r>
          </a:p>
          <a:p>
            <a:pPr/>
            <a:r>
              <a:rPr sz="1300"/>
              <a:t>   структура каналов и поведение клиентов другие.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2. Смещение во времени.</a:t>
            </a:r>
          </a:p>
          <a:p>
            <a:pPr/>
            <a:r>
              <a:rPr sz="1300"/>
              <a:t>   Данные 2015 – 2017 годов. После ковида клиенты ведут себя иначе:</a:t>
            </a:r>
          </a:p>
          <a:p>
            <a:pPr/>
            <a:r>
              <a:rPr sz="1300"/>
              <a:t>   гибкие условия отмены стали нормой, доля отмен в индустрии выросла.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3. Новая страна.</a:t>
            </a:r>
          </a:p>
          <a:p>
            <a:pPr/>
            <a:r>
              <a:rPr sz="1300"/>
              <a:t>   Если страны не было в обучении, целевое кодирование даёт среднее</a:t>
            </a:r>
          </a:p>
          <a:p>
            <a:pPr/>
            <a:r>
              <a:rPr sz="1300"/>
              <a:t>   по миру — точность для таких броней непредсказуемо хуже.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Прототип развёрнут как Streamlit-приложение (предыдущий слайд).</a:t>
            </a:r>
          </a:p>
          <a:p>
            <a:pPr/>
            <a:r>
              <a:rPr sz="1300"/>
              <a:t>Для продакшена — веб-сервис, мониторинг распределений признаков</a:t>
            </a:r>
          </a:p>
          <a:p>
            <a:pPr/>
            <a:r>
              <a:rPr sz="1300"/>
              <a:t>и переобучение раз в квартал.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000000"/>
            <a:ext cx="9144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953734"/>
                </a:solidFill>
              </a:rPr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2024</Words>
  <Application>Microsoft Macintosh PowerPoint</Application>
  <PresentationFormat>Экран (16:9)</PresentationFormat>
  <Paragraphs>314</Paragraphs>
  <Slides>21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 Math</vt:lpstr>
      <vt:lpstr>Тема Office</vt:lpstr>
      <vt:lpstr>Методы замены лиц на изображениях и видео</vt:lpstr>
      <vt:lpstr>Контекст и цель исследования</vt:lpstr>
      <vt:lpstr>Пример 1</vt:lpstr>
      <vt:lpstr>Пример 2</vt:lpstr>
      <vt:lpstr>Подход к замене лиц: 3D-морфинг</vt:lpstr>
      <vt:lpstr>Подход к замене лиц: обучение GAN</vt:lpstr>
      <vt:lpstr>Подход к замене лиц: FaceFusion</vt:lpstr>
      <vt:lpstr>Сводная таблица: подходы к замене лиц</vt:lpstr>
      <vt:lpstr>Подходы к оценке качества замены</vt:lpstr>
      <vt:lpstr>Эксперимент: фото</vt:lpstr>
      <vt:lpstr>Эксперимент: видео</vt:lpstr>
      <vt:lpstr>Пайплайн. Этап 1: Детекция лиц </vt:lpstr>
      <vt:lpstr>Этап 2: Замена лиц </vt:lpstr>
      <vt:lpstr>Этап 3: Улучшение  </vt:lpstr>
      <vt:lpstr>Этап 4: Стабилизация видео </vt:lpstr>
      <vt:lpstr>План: 14 дней на GPU</vt:lpstr>
      <vt:lpstr>Метрики оценки</vt:lpstr>
      <vt:lpstr>Метрики оценки</vt:lpstr>
      <vt:lpstr>Статьи-основа метода</vt:lpstr>
      <vt:lpstr>Литература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замены лиц на изображениях и видео</dc:title>
  <dc:creator>Виталий Сухоплечев</dc:creator>
  <cp:lastModifiedBy>Столярова Полина Николаевна</cp:lastModifiedBy>
  <cp:revision>28</cp:revision>
  <dcterms:modified xsi:type="dcterms:W3CDTF">2026-03-30T20:58:02Z</dcterms:modified>
</cp:coreProperties>
</file>